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22" r:id="rId5"/>
    <p:sldId id="321" r:id="rId6"/>
    <p:sldId id="320" r:id="rId7"/>
    <p:sldId id="319" r:id="rId8"/>
    <p:sldId id="313" r:id="rId9"/>
    <p:sldId id="314" r:id="rId10"/>
    <p:sldId id="310" r:id="rId11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3E5"/>
    <a:srgbClr val="40636A"/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31" autoAdjust="0"/>
    <p:restoredTop sz="95388" autoAdjust="0"/>
  </p:normalViewPr>
  <p:slideViewPr>
    <p:cSldViewPr snapToGrid="0">
      <p:cViewPr>
        <p:scale>
          <a:sx n="75" d="100"/>
          <a:sy n="75" d="100"/>
        </p:scale>
        <p:origin x="1890" y="744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882" y="14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B300E704-4367-44E8-9590-2A22431AB6DD}" type="datetime1">
              <a:rPr lang="it-IT" smtClean="0"/>
              <a:t>11/06/2026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00AC623C-86E0-4A85-83FB-F4A716956FD4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17F87BE5-2980-4625-A178-ED4EDB0DF570}" type="datetime1">
              <a:rPr lang="it-IT" smtClean="0"/>
              <a:t>11/06/2026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C37D7554-D10C-4E29-B8E6-BB7111FA614F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C37D7554-D10C-4E29-B8E6-BB7111FA614F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1234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C37D7554-D10C-4E29-B8E6-BB7111FA614F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28847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C37D7554-D10C-4E29-B8E6-BB7111FA614F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40935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C37D7554-D10C-4E29-B8E6-BB7111FA614F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0030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C37D7554-D10C-4E29-B8E6-BB7111FA614F}" type="slidenum">
              <a:rPr lang="it-IT" smtClean="0"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10311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C37D7554-D10C-4E29-B8E6-BB7111FA614F}" type="slidenum">
              <a:rPr lang="it-IT" smtClean="0"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8735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C37D7554-D10C-4E29-B8E6-BB7111FA614F}" type="slidenum">
              <a:rPr lang="it-IT" smtClean="0"/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64164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tangolo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8" name="Titolo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rtlCol="0" anchor="b">
            <a:normAutofit/>
          </a:bodyPr>
          <a:lstStyle>
            <a:lvl1pPr>
              <a:defRPr lang="it-IT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 rtlCol="0">
            <a:normAutofit/>
          </a:bodyPr>
          <a:lstStyle>
            <a:lvl1pPr>
              <a:defRPr lang="it-IT" sz="36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2" name="Segnaposto contenuto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rtlCol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tangolo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9" name="Segnaposto numero diapositiva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18D65601-5AE2-46FC-B138-694DDD2B510D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rtlCol="0" anchor="b">
            <a:normAutofit/>
          </a:bodyPr>
          <a:lstStyle>
            <a:lvl1pPr>
              <a:defRPr lang="it-IT" sz="36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/>
              <a:t>Fare clic sull'icona per inserire un'immagine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sottotitol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rtlCol="0" anchor="b">
            <a:normAutofit/>
          </a:bodyPr>
          <a:lstStyle>
            <a:lvl1pPr>
              <a:defRPr lang="it-IT" sz="36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/>
              <a:t>Fare clic sull'icona per inserire un'immagine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egnaposto testo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it-IT"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t-IT"/>
              <a:t>Fare clic per inserire il sottotitolo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 rtlCol="0">
            <a:normAutofit/>
          </a:bodyPr>
          <a:lstStyle>
            <a:lvl1pPr>
              <a:defRPr lang="it-IT" sz="36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2" name="Segnaposto contenuto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tangolo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9" name="Segnaposto numero diapositiva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18D65601-5AE2-46FC-B138-694DDD2B510D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sezion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rtlCol="0" anchor="b"/>
          <a:lstStyle>
            <a:lvl1pPr algn="ctr"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9" name="Segnaposto testo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it-IT"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/>
              <a:t>Fare clic per inserire il sottotitolo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2 contenuti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it-IT" sz="36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2" name="Segnaposto contenuto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it-IT"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2" name="Segnaposto contenuto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it-IT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18D65601-5AE2-46FC-B138-694DDD2B510D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2 contenuti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it-IT" sz="36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4" name="Segnaposto contenuto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it-IT"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lang="it-IT"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lang="it-IT"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lang="it-IT"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2" name="Segnaposto contenuto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it-IT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18D65601-5AE2-46FC-B138-694DDD2B510D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immagine e contenuto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it-IT" sz="36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/>
              <a:t>Fare clic sull'icona per inserire un'immagine</a:t>
            </a:r>
          </a:p>
        </p:txBody>
      </p:sp>
      <p:sp>
        <p:nvSpPr>
          <p:cNvPr id="12" name="Segnaposto contenuto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it-IT"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18D65601-5AE2-46FC-B138-694DDD2B510D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contenuti e tabella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it-IT" sz="36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2" name="Segnaposto contenuto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it-IT"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4" name="Segnaposto tabella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 rtlCol="0">
            <a:normAutofit/>
          </a:bodyPr>
          <a:lstStyle>
            <a:lvl1pPr>
              <a:defRPr lang="it-IT" sz="2000"/>
            </a:lvl1pPr>
          </a:lstStyle>
          <a:p>
            <a:pPr rtl="0"/>
            <a:r>
              <a:rPr lang="it-IT"/>
              <a:t>Fare clic sull'icona per inserire una tabella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18D65601-5AE2-46FC-B138-694DDD2B510D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2 contenuti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o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it-IT" sz="36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 rtlCol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it-IT" sz="2000"/>
            </a:lvl1pPr>
            <a:lvl2pPr>
              <a:lnSpc>
                <a:spcPct val="100000"/>
              </a:lnSpc>
              <a:spcAft>
                <a:spcPts val="600"/>
              </a:spcAft>
              <a:defRPr lang="it-IT"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lang="it-IT" sz="2000"/>
            </a:lvl3pPr>
            <a:lvl4pPr>
              <a:lnSpc>
                <a:spcPct val="100000"/>
              </a:lnSpc>
              <a:spcAft>
                <a:spcPts val="1200"/>
              </a:spcAft>
              <a:defRPr lang="it-IT" sz="2000"/>
            </a:lvl4pPr>
            <a:lvl5pPr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1" name="Segnaposto contenuto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it-IT"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it-IT" sz="2000"/>
            </a:lvl2pPr>
            <a:lvl3pPr marL="1257300" indent="-342900">
              <a:buFont typeface="Arial" panose="020B0604020202020204" pitchFamily="34" charset="0"/>
              <a:buChar char="•"/>
              <a:defRPr lang="it-IT" sz="2000"/>
            </a:lvl3pPr>
            <a:lvl4pPr marL="1714500" indent="-342900">
              <a:buFont typeface="Arial" panose="020B0604020202020204" pitchFamily="34" charset="0"/>
              <a:buChar char="•"/>
              <a:defRPr lang="it-IT" sz="2000"/>
            </a:lvl4pPr>
            <a:lvl5pPr marL="2171700" indent="-342900">
              <a:buFont typeface="Arial" panose="020B0604020202020204" pitchFamily="34" charset="0"/>
              <a:buChar char="•"/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18D65601-5AE2-46FC-B138-694DDD2B510D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abella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o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it-IT" sz="36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9" name="Segnaposto tabella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 rtlCol="0">
            <a:normAutofit/>
          </a:bodyPr>
          <a:lstStyle>
            <a:lvl1pPr>
              <a:defRPr lang="it-IT" sz="2400"/>
            </a:lvl1pPr>
          </a:lstStyle>
          <a:p>
            <a:pPr rtl="0"/>
            <a:r>
              <a:rPr lang="it-IT"/>
              <a:t>Fare clic sull'icona per inserire una tabella</a:t>
            </a:r>
          </a:p>
        </p:txBody>
      </p:sp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18D65601-5AE2-46FC-B138-694DDD2B510D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zi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ttangolo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8" name="Titolo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rtlCol="0" anchor="b">
            <a:normAutofit/>
          </a:bodyPr>
          <a:lstStyle>
            <a:lvl1pPr>
              <a:defRPr lang="it-IT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it-IT"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18D65601-5AE2-46FC-B138-694DDD2B510D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it-IT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it-IT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2715768"/>
            <a:ext cx="8475609" cy="104241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 err="1"/>
              <a:t>Medical</a:t>
            </a:r>
            <a:r>
              <a:rPr lang="it-IT" dirty="0"/>
              <a:t> </a:t>
            </a:r>
            <a:r>
              <a:rPr lang="it-IT" dirty="0" err="1"/>
              <a:t>Diagnosis</a:t>
            </a:r>
            <a:r>
              <a:rPr lang="it-IT" dirty="0"/>
              <a:t> AID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C477C676-24D9-A448-020A-D1FC9FC723C0}"/>
              </a:ext>
            </a:extLst>
          </p:cNvPr>
          <p:cNvSpPr txBox="1">
            <a:spLocks/>
          </p:cNvSpPr>
          <p:nvPr/>
        </p:nvSpPr>
        <p:spPr>
          <a:xfrm>
            <a:off x="1317615" y="3721608"/>
            <a:ext cx="7835530" cy="60350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000" dirty="0" err="1"/>
              <a:t>Predicting</a:t>
            </a:r>
            <a:r>
              <a:rPr lang="it-IT" sz="3000" dirty="0"/>
              <a:t> </a:t>
            </a:r>
            <a:r>
              <a:rPr lang="it-IT" sz="3000" dirty="0" err="1"/>
              <a:t>diabetes</a:t>
            </a:r>
            <a:r>
              <a:rPr lang="it-IT" sz="3000" dirty="0"/>
              <a:t> </a:t>
            </a:r>
            <a:r>
              <a:rPr lang="it-IT" sz="3000" dirty="0" err="1"/>
              <a:t>likelihood</a:t>
            </a:r>
            <a:r>
              <a:rPr lang="it-IT" sz="3000" dirty="0"/>
              <a:t> from clinical data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 err="1"/>
              <a:t>Let’s</a:t>
            </a:r>
            <a:r>
              <a:rPr lang="it-IT" dirty="0"/>
              <a:t> </a:t>
            </a:r>
            <a:r>
              <a:rPr lang="it-IT" dirty="0" err="1"/>
              <a:t>Explore</a:t>
            </a:r>
            <a:br>
              <a:rPr lang="it-IT" dirty="0"/>
            </a:br>
            <a:r>
              <a:rPr lang="it-IT" dirty="0" err="1"/>
              <a:t>Together</a:t>
            </a:r>
            <a:r>
              <a:rPr lang="it-IT" dirty="0"/>
              <a:t>!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Dataset and the challenge</a:t>
            </a:r>
          </a:p>
          <a:p>
            <a:pPr rtl="0"/>
            <a:r>
              <a:rPr lang="it-IT" dirty="0"/>
              <a:t>EDA and </a:t>
            </a:r>
            <a:r>
              <a:rPr lang="it-IT" dirty="0" err="1"/>
              <a:t>preprocessing</a:t>
            </a:r>
            <a:endParaRPr lang="it-IT" dirty="0"/>
          </a:p>
          <a:p>
            <a:pPr rtl="0"/>
            <a:r>
              <a:rPr lang="it-IT" dirty="0"/>
              <a:t>Models and </a:t>
            </a:r>
            <a:r>
              <a:rPr lang="it-IT" dirty="0" err="1"/>
              <a:t>results</a:t>
            </a:r>
            <a:endParaRPr lang="it-IT" dirty="0"/>
          </a:p>
          <a:p>
            <a:pPr rtl="0"/>
            <a:r>
              <a:rPr lang="it-IT" dirty="0"/>
              <a:t>Demo MVP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18D65601-5AE2-46FC-B138-694DDD2B510D}" type="slidenum">
              <a:rPr lang="it-IT" smtClean="0"/>
              <a:pPr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682" y="2592322"/>
            <a:ext cx="5000318" cy="2537461"/>
          </a:xfrm>
        </p:spPr>
        <p:txBody>
          <a:bodyPr rtlCol="0">
            <a:normAutofit fontScale="90000"/>
          </a:bodyPr>
          <a:lstStyle>
            <a:defPPr>
              <a:defRPr lang="it-IT"/>
            </a:defPPr>
          </a:lstStyle>
          <a:p>
            <a:r>
              <a:rPr lang="it-IT" sz="2400" dirty="0"/>
              <a:t>Dataset: PIMA </a:t>
            </a:r>
            <a:r>
              <a:rPr lang="it-IT" sz="2400" dirty="0" err="1"/>
              <a:t>Indians</a:t>
            </a:r>
            <a:r>
              <a:rPr lang="it-IT" sz="2400" dirty="0"/>
              <a:t> </a:t>
            </a:r>
            <a:r>
              <a:rPr lang="it-IT" sz="2400" dirty="0" err="1"/>
              <a:t>Diabetes</a:t>
            </a:r>
            <a:r>
              <a:rPr lang="it-IT" sz="2400" dirty="0"/>
              <a:t> Database</a:t>
            </a:r>
            <a:br>
              <a:rPr lang="it-IT" sz="2400" dirty="0"/>
            </a:br>
            <a:br>
              <a:rPr lang="it-IT" sz="2400" dirty="0"/>
            </a:br>
            <a:r>
              <a:rPr lang="it-IT" sz="2400" dirty="0"/>
              <a:t>Task: </a:t>
            </a:r>
            <a:r>
              <a:rPr lang="it-IT" sz="2400" dirty="0" err="1"/>
              <a:t>Binary</a:t>
            </a:r>
            <a:r>
              <a:rPr lang="it-IT" sz="2400" dirty="0"/>
              <a:t> </a:t>
            </a:r>
            <a:r>
              <a:rPr lang="it-IT" sz="2400" dirty="0" err="1"/>
              <a:t>Classification</a:t>
            </a:r>
            <a:br>
              <a:rPr lang="it-IT" sz="2400" dirty="0"/>
            </a:br>
            <a:br>
              <a:rPr lang="it-IT" sz="2400" dirty="0"/>
            </a:br>
            <a:r>
              <a:rPr lang="it-IT" sz="2400" dirty="0"/>
              <a:t>Target: </a:t>
            </a:r>
            <a:r>
              <a:rPr lang="it-IT" sz="2400" dirty="0" err="1"/>
              <a:t>Outcome</a:t>
            </a:r>
            <a:br>
              <a:rPr lang="it-IT" sz="2400" dirty="0"/>
            </a:br>
            <a:br>
              <a:rPr lang="it-IT" sz="2400" dirty="0"/>
            </a:br>
            <a:r>
              <a:rPr lang="it-IT" sz="2400" dirty="0"/>
              <a:t>768 </a:t>
            </a:r>
            <a:r>
              <a:rPr lang="it-IT" sz="2400" dirty="0" err="1"/>
              <a:t>rows</a:t>
            </a:r>
            <a:r>
              <a:rPr lang="it-IT" sz="2400" dirty="0"/>
              <a:t>, 8 input features, 1 target</a:t>
            </a:r>
          </a:p>
        </p:txBody>
      </p:sp>
      <p:pic>
        <p:nvPicPr>
          <p:cNvPr id="4" name="Segnaposto immagine 17">
            <a:extLst>
              <a:ext uri="{FF2B5EF4-FFF2-40B4-BE49-F238E27FC236}">
                <a16:creationId xmlns:a16="http://schemas.microsoft.com/office/drawing/2014/main" id="{5E6D83BB-8C90-A74A-7CB5-59884B9944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5" r="35"/>
          <a:stretch/>
        </p:blipFill>
        <p:spPr>
          <a:xfrm>
            <a:off x="6642169" y="-1"/>
            <a:ext cx="4635426" cy="6857999"/>
          </a:xfrm>
        </p:spPr>
      </p:pic>
      <p:sp>
        <p:nvSpPr>
          <p:cNvPr id="9" name="Titolo 2">
            <a:extLst>
              <a:ext uri="{FF2B5EF4-FFF2-40B4-BE49-F238E27FC236}">
                <a16:creationId xmlns:a16="http://schemas.microsoft.com/office/drawing/2014/main" id="{28145DA9-E57B-23C6-3265-EA8ED921B83B}"/>
              </a:ext>
            </a:extLst>
          </p:cNvPr>
          <p:cNvSpPr txBox="1">
            <a:spLocks/>
          </p:cNvSpPr>
          <p:nvPr/>
        </p:nvSpPr>
        <p:spPr>
          <a:xfrm>
            <a:off x="1095682" y="1728215"/>
            <a:ext cx="5000318" cy="605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 dirty="0"/>
              <a:t>Dataset and the challenge</a:t>
            </a:r>
          </a:p>
        </p:txBody>
      </p:sp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4C0FEFBF-60FD-0161-6F6E-89EE3938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3051111"/>
            <a:ext cx="9923770" cy="1438762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 err="1"/>
              <a:t>Exploratory</a:t>
            </a:r>
            <a:r>
              <a:rPr lang="it-IT" dirty="0"/>
              <a:t> Data Analysis and </a:t>
            </a:r>
            <a:r>
              <a:rPr lang="it-IT" dirty="0" err="1"/>
              <a:t>preprocessing</a:t>
            </a:r>
            <a:endParaRPr lang="it-IT" dirty="0"/>
          </a:p>
        </p:txBody>
      </p:sp>
      <p:pic>
        <p:nvPicPr>
          <p:cNvPr id="5" name="Segnaposto immagine 84" descr="Due persone in piedi di fronte a un pubblico di spettatori seduti">
            <a:extLst>
              <a:ext uri="{FF2B5EF4-FFF2-40B4-BE49-F238E27FC236}">
                <a16:creationId xmlns:a16="http://schemas.microsoft.com/office/drawing/2014/main" id="{E71238CA-461F-1B03-D7E1-786C002AB7D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290" b="35290"/>
          <a:stretch/>
        </p:blipFill>
        <p:spPr>
          <a:xfrm>
            <a:off x="915600" y="0"/>
            <a:ext cx="10361995" cy="3429000"/>
          </a:xfrm>
        </p:spPr>
      </p:pic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DD542008-8017-76E5-ABC0-3240106887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53828" y="4771288"/>
            <a:ext cx="9923770" cy="1616812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The dataset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inspected</a:t>
            </a:r>
            <a:r>
              <a:rPr lang="it-IT" dirty="0"/>
              <a:t> </a:t>
            </a:r>
            <a:r>
              <a:rPr lang="it-IT" dirty="0" err="1"/>
              <a:t>before</a:t>
            </a:r>
            <a:r>
              <a:rPr lang="it-IT" dirty="0"/>
              <a:t> training.</a:t>
            </a:r>
            <a:br>
              <a:rPr lang="it-IT" dirty="0"/>
            </a:br>
            <a:endParaRPr lang="it-IT" dirty="0"/>
          </a:p>
          <a:p>
            <a:pPr rtl="0"/>
            <a:r>
              <a:rPr lang="it-IT" dirty="0"/>
              <a:t>Some zero 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medically</a:t>
            </a:r>
            <a:r>
              <a:rPr lang="it-IT" dirty="0"/>
              <a:t> </a:t>
            </a:r>
            <a:r>
              <a:rPr lang="it-IT" dirty="0" err="1"/>
              <a:t>improbable</a:t>
            </a:r>
            <a:r>
              <a:rPr lang="it-IT" dirty="0"/>
              <a:t>, so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replaced</a:t>
            </a:r>
            <a:r>
              <a:rPr lang="it-IT" dirty="0"/>
              <a:t> with NaN and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imputed</a:t>
            </a:r>
            <a:r>
              <a:rPr lang="it-IT" dirty="0"/>
              <a:t> with the </a:t>
            </a:r>
            <a:r>
              <a:rPr lang="it-IT" dirty="0" err="1"/>
              <a:t>median</a:t>
            </a:r>
            <a:r>
              <a:rPr lang="it-IT" dirty="0"/>
              <a:t>.</a:t>
            </a:r>
          </a:p>
          <a:p>
            <a:pPr rtl="0"/>
            <a:endParaRPr lang="it-IT" dirty="0"/>
          </a:p>
          <a:p>
            <a:pPr rtl="0"/>
            <a:r>
              <a:rPr lang="it-IT" dirty="0"/>
              <a:t>Not </a:t>
            </a:r>
            <a:r>
              <a:rPr lang="it-IT" dirty="0" err="1"/>
              <a:t>every</a:t>
            </a:r>
            <a:r>
              <a:rPr lang="it-IT" dirty="0"/>
              <a:t> zero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treated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missing</a:t>
            </a:r>
            <a:r>
              <a:rPr lang="it-IT" dirty="0"/>
              <a:t>: for </a:t>
            </a:r>
            <a:r>
              <a:rPr lang="it-IT" dirty="0" err="1"/>
              <a:t>example</a:t>
            </a:r>
            <a:r>
              <a:rPr lang="it-IT" dirty="0"/>
              <a:t>, </a:t>
            </a:r>
            <a:r>
              <a:rPr lang="it-IT" dirty="0" err="1"/>
              <a:t>pregnancies</a:t>
            </a:r>
            <a:r>
              <a:rPr lang="it-IT" dirty="0"/>
              <a:t> = 0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valid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925AA6ED-97F0-825D-71BB-D4D461E7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 dirty="0"/>
              <a:t>Models and </a:t>
            </a:r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6059FD0C-3CC0-6307-C5F3-CCBE0B14A1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8814" y="3796264"/>
            <a:ext cx="9164372" cy="2833136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r>
              <a:rPr lang="it-IT" dirty="0" err="1"/>
              <a:t>Logistic</a:t>
            </a:r>
            <a:r>
              <a:rPr lang="it-IT" dirty="0"/>
              <a:t> </a:t>
            </a:r>
            <a:r>
              <a:rPr lang="it-IT" dirty="0" err="1"/>
              <a:t>Regression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baseline model.</a:t>
            </a:r>
          </a:p>
          <a:p>
            <a:r>
              <a:rPr lang="it-IT" dirty="0" err="1"/>
              <a:t>RandomForestClassifier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chosen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the </a:t>
            </a:r>
            <a:r>
              <a:rPr lang="it-IT" dirty="0" err="1"/>
              <a:t>final</a:t>
            </a:r>
            <a:r>
              <a:rPr lang="it-IT" dirty="0"/>
              <a:t> model </a:t>
            </a:r>
            <a:r>
              <a:rPr lang="it-IT" dirty="0" err="1"/>
              <a:t>because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performed</a:t>
            </a:r>
            <a:r>
              <a:rPr lang="it-IT" dirty="0"/>
              <a:t> </a:t>
            </a:r>
            <a:r>
              <a:rPr lang="it-IT" dirty="0" err="1"/>
              <a:t>better</a:t>
            </a:r>
            <a:r>
              <a:rPr lang="it-IT" dirty="0"/>
              <a:t> on the test set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main</a:t>
            </a:r>
            <a:r>
              <a:rPr lang="it-IT" dirty="0"/>
              <a:t> </a:t>
            </a:r>
            <a:r>
              <a:rPr lang="it-IT" dirty="0" err="1"/>
              <a:t>metrics</a:t>
            </a:r>
            <a:r>
              <a:rPr lang="it-IT" dirty="0"/>
              <a:t>.</a:t>
            </a:r>
          </a:p>
          <a:p>
            <a:endParaRPr lang="it-IT" dirty="0"/>
          </a:p>
          <a:p>
            <a:endParaRPr lang="it-IT" dirty="0"/>
          </a:p>
          <a:p>
            <a:br>
              <a:rPr lang="it-IT" sz="1300" dirty="0"/>
            </a:br>
            <a:r>
              <a:rPr lang="it-IT" sz="1300" dirty="0"/>
              <a:t>F1-score* </a:t>
            </a:r>
            <a:r>
              <a:rPr lang="it-IT" sz="1300" dirty="0" err="1"/>
              <a:t>is</a:t>
            </a:r>
            <a:r>
              <a:rPr lang="it-IT" sz="1300" dirty="0"/>
              <a:t> a </a:t>
            </a:r>
            <a:r>
              <a:rPr lang="it-IT" sz="1300" dirty="0" err="1"/>
              <a:t>metric</a:t>
            </a:r>
            <a:r>
              <a:rPr lang="it-IT" sz="1300" dirty="0"/>
              <a:t> </a:t>
            </a:r>
            <a:r>
              <a:rPr lang="it-IT" sz="1300" dirty="0" err="1"/>
              <a:t>that</a:t>
            </a:r>
            <a:r>
              <a:rPr lang="it-IT" sz="1300" dirty="0"/>
              <a:t> balances </a:t>
            </a:r>
            <a:r>
              <a:rPr lang="it-IT" sz="1300" dirty="0" err="1"/>
              <a:t>precision</a:t>
            </a:r>
            <a:r>
              <a:rPr lang="it-IT" sz="1300" dirty="0"/>
              <a:t> and recall.</a:t>
            </a:r>
          </a:p>
          <a:p>
            <a:endParaRPr lang="it-IT" dirty="0"/>
          </a:p>
        </p:txBody>
      </p:sp>
      <p:graphicFrame>
        <p:nvGraphicFramePr>
          <p:cNvPr id="5" name="Segnaposto tabella 2">
            <a:extLst>
              <a:ext uri="{FF2B5EF4-FFF2-40B4-BE49-F238E27FC236}">
                <a16:creationId xmlns:a16="http://schemas.microsoft.com/office/drawing/2014/main" id="{4BF48F46-6E7D-0880-9D66-315C864F7D0F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4188463030"/>
              </p:ext>
            </p:extLst>
          </p:nvPr>
        </p:nvGraphicFramePr>
        <p:xfrm>
          <a:off x="1592800" y="1600281"/>
          <a:ext cx="9040386" cy="182871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605131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26381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390630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390404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  <a:gridCol w="1390404">
                  <a:extLst>
                    <a:ext uri="{9D8B030D-6E8A-4147-A177-3AD203B41FA5}">
                      <a16:colId xmlns:a16="http://schemas.microsoft.com/office/drawing/2014/main" val="4175755984"/>
                    </a:ext>
                  </a:extLst>
                </a:gridCol>
              </a:tblGrid>
              <a:tr h="586960"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sz="1600" noProof="0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sz="1600" noProof="0" dirty="0" err="1"/>
                        <a:t>Accuracy</a:t>
                      </a:r>
                      <a:endParaRPr lang="it-IT" sz="1600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sz="1600" noProof="0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sz="1600" noProof="0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it-IT" sz="1600" noProof="0" dirty="0"/>
                        <a:t>F1-score*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01680"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sz="1600" noProof="0" dirty="0" err="1"/>
                        <a:t>Logistic</a:t>
                      </a:r>
                      <a:r>
                        <a:rPr lang="it-IT" sz="1600" noProof="0" dirty="0"/>
                        <a:t> </a:t>
                      </a:r>
                      <a:r>
                        <a:rPr lang="it-IT" sz="1600" noProof="0" dirty="0" err="1"/>
                        <a:t>Regression</a:t>
                      </a:r>
                      <a:endParaRPr lang="it-IT" sz="1600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sz="1600" noProof="0" dirty="0"/>
                        <a:t>0.701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sz="1600" noProof="0" dirty="0"/>
                        <a:t>0.587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sz="1600" noProof="0" dirty="0"/>
                        <a:t>0.500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it-IT" sz="1600" noProof="0" dirty="0"/>
                        <a:t>0.540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40079"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sz="1600" noProof="0" dirty="0"/>
                        <a:t>Random Forest Cl.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sz="1600" noProof="0" dirty="0"/>
                        <a:t>0.779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sz="1600" noProof="0" dirty="0"/>
                        <a:t>0.727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it-IT"/>
                      </a:defPPr>
                    </a:lstStyle>
                    <a:p>
                      <a:pPr algn="ctr" rtl="0"/>
                      <a:r>
                        <a:rPr lang="it-IT" sz="1600" noProof="0" dirty="0"/>
                        <a:t>0.593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it-IT" sz="1600" noProof="0" dirty="0"/>
                        <a:t>0.653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</a:tbl>
          </a:graphicData>
        </a:graphic>
      </p:graphicFrame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71592F51-55CE-19DC-B632-AD19560BA9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18D65601-5AE2-46FC-B138-694DDD2B510D}" type="slidenum">
              <a:rPr lang="it-IT" smtClean="0"/>
              <a:pPr rtl="0"/>
              <a:t>5</a:t>
            </a:fld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EA0621E-3539-7DF8-B6AE-5A9AC0AB1F91}"/>
              </a:ext>
            </a:extLst>
          </p:cNvPr>
          <p:cNvSpPr/>
          <p:nvPr/>
        </p:nvSpPr>
        <p:spPr>
          <a:xfrm>
            <a:off x="11275221" y="-19050"/>
            <a:ext cx="915600" cy="939800"/>
          </a:xfrm>
          <a:prstGeom prst="rect">
            <a:avLst/>
          </a:prstGeom>
          <a:solidFill>
            <a:srgbClr val="D5E3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13CE18D-843D-DC8F-4D3A-2A6F935DFF87}"/>
              </a:ext>
            </a:extLst>
          </p:cNvPr>
          <p:cNvSpPr/>
          <p:nvPr/>
        </p:nvSpPr>
        <p:spPr>
          <a:xfrm>
            <a:off x="885029" y="0"/>
            <a:ext cx="21600" cy="5943601"/>
          </a:xfrm>
          <a:prstGeom prst="rect">
            <a:avLst/>
          </a:prstGeom>
          <a:solidFill>
            <a:srgbClr val="406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4546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E52EF1C1-5933-D909-38D2-D22F630A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Demo MVP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C1D94129-1999-7159-E6E3-7D6C478655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18D65601-5AE2-46FC-B138-694DDD2B510D}" type="slidenum">
              <a:rPr lang="it-IT" smtClean="0"/>
              <a:pPr rtl="0"/>
              <a:t>6</a:t>
            </a:fld>
            <a:endParaRPr lang="it-IT" dirty="0"/>
          </a:p>
        </p:txBody>
      </p:sp>
      <p:pic>
        <p:nvPicPr>
          <p:cNvPr id="7" name="Segnaposto immagine 6">
            <a:extLst>
              <a:ext uri="{FF2B5EF4-FFF2-40B4-BE49-F238E27FC236}">
                <a16:creationId xmlns:a16="http://schemas.microsoft.com/office/drawing/2014/main" id="{9A3D4103-A3C2-A6CC-FF4A-CAB89B7EA62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67" b="67"/>
          <a:stretch/>
        </p:blipFill>
        <p:spPr>
          <a:xfrm>
            <a:off x="1503363" y="2061969"/>
            <a:ext cx="4592637" cy="4805362"/>
          </a:xfr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B3004F-891E-E0B4-FC2D-A5949EC33A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787262" y="2052736"/>
            <a:ext cx="4490320" cy="4800598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Flask web app with HTML form</a:t>
            </a:r>
          </a:p>
          <a:p>
            <a:pPr rtl="0"/>
            <a:r>
              <a:rPr lang="it-IT" dirty="0" err="1"/>
              <a:t>Prediction</a:t>
            </a:r>
            <a:r>
              <a:rPr lang="it-IT" dirty="0"/>
              <a:t> </a:t>
            </a:r>
            <a:r>
              <a:rPr lang="it-IT" dirty="0" err="1"/>
              <a:t>result</a:t>
            </a:r>
            <a:r>
              <a:rPr lang="it-IT" dirty="0"/>
              <a:t> page</a:t>
            </a:r>
          </a:p>
          <a:p>
            <a:pPr rtl="0"/>
            <a:r>
              <a:rPr lang="it-IT" dirty="0"/>
              <a:t>JSON API </a:t>
            </a:r>
            <a:r>
              <a:rPr lang="it-IT" dirty="0" err="1"/>
              <a:t>route</a:t>
            </a:r>
            <a:endParaRPr lang="it-IT" dirty="0"/>
          </a:p>
          <a:p>
            <a:pPr rtl="0"/>
            <a:r>
              <a:rPr lang="it-IT" dirty="0"/>
              <a:t>Docker support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B02A752F-BC04-6100-DEC4-09B39C7F25E4}"/>
              </a:ext>
            </a:extLst>
          </p:cNvPr>
          <p:cNvSpPr/>
          <p:nvPr/>
        </p:nvSpPr>
        <p:spPr>
          <a:xfrm>
            <a:off x="885029" y="0"/>
            <a:ext cx="21600" cy="5943601"/>
          </a:xfrm>
          <a:prstGeom prst="rect">
            <a:avLst/>
          </a:prstGeom>
          <a:solidFill>
            <a:srgbClr val="406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9A925D8-B3EB-B480-9093-A2F6C4E58EAC}"/>
              </a:ext>
            </a:extLst>
          </p:cNvPr>
          <p:cNvSpPr/>
          <p:nvPr/>
        </p:nvSpPr>
        <p:spPr>
          <a:xfrm>
            <a:off x="11275221" y="-19050"/>
            <a:ext cx="915600" cy="939800"/>
          </a:xfrm>
          <a:prstGeom prst="rect">
            <a:avLst/>
          </a:prstGeom>
          <a:solidFill>
            <a:srgbClr val="D5E3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250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059058" cy="5253089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 err="1"/>
              <a:t>Let’s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/>
              <a:t>Take off</a:t>
            </a:r>
            <a:br>
              <a:rPr lang="it-IT" dirty="0"/>
            </a:br>
            <a:r>
              <a:rPr lang="it-IT" b="1" dirty="0" err="1"/>
              <a:t>Together</a:t>
            </a:r>
            <a:r>
              <a:rPr lang="it-IT" b="1" dirty="0"/>
              <a:t>!</a:t>
            </a: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70ECFE66-A9E7-A365-967B-2FD670CB39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2286" y="690465"/>
            <a:ext cx="4784372" cy="5253089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 dirty="0"/>
              <a:t>Simple project,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fully</a:t>
            </a:r>
            <a:r>
              <a:rPr lang="it-IT" dirty="0"/>
              <a:t> end-to-end.</a:t>
            </a:r>
          </a:p>
          <a:p>
            <a:pPr rtl="0"/>
            <a:endParaRPr lang="it-IT" dirty="0"/>
          </a:p>
          <a:p>
            <a:pPr rtl="0"/>
            <a:r>
              <a:rPr lang="it-IT" dirty="0"/>
              <a:t>Tailor-made with love to be </a:t>
            </a:r>
            <a:br>
              <a:rPr lang="it-IT" dirty="0"/>
            </a:br>
            <a:r>
              <a:rPr lang="it-IT" dirty="0" err="1"/>
              <a:t>Understandable</a:t>
            </a:r>
            <a:r>
              <a:rPr lang="it-IT" dirty="0"/>
              <a:t>,</a:t>
            </a:r>
            <a:br>
              <a:rPr lang="it-IT" dirty="0"/>
            </a:br>
            <a:r>
              <a:rPr lang="it-IT" dirty="0" err="1"/>
              <a:t>Reproducible</a:t>
            </a:r>
            <a:r>
              <a:rPr lang="it-IT" dirty="0"/>
              <a:t> and </a:t>
            </a:r>
            <a:br>
              <a:rPr lang="it-IT" dirty="0"/>
            </a:br>
            <a:r>
              <a:rPr lang="it-IT" dirty="0" err="1"/>
              <a:t>Defendable</a:t>
            </a:r>
            <a:r>
              <a:rPr lang="it-IT" dirty="0"/>
              <a:t>.</a:t>
            </a:r>
          </a:p>
        </p:txBody>
      </p:sp>
      <p:sp>
        <p:nvSpPr>
          <p:cNvPr id="4" name="Segnaposto contenuto 1">
            <a:extLst>
              <a:ext uri="{FF2B5EF4-FFF2-40B4-BE49-F238E27FC236}">
                <a16:creationId xmlns:a16="http://schemas.microsoft.com/office/drawing/2014/main" id="{1255437B-195E-524A-059D-D9D7ECAC32D6}"/>
              </a:ext>
            </a:extLst>
          </p:cNvPr>
          <p:cNvSpPr txBox="1">
            <a:spLocks/>
          </p:cNvSpPr>
          <p:nvPr/>
        </p:nvSpPr>
        <p:spPr>
          <a:xfrm>
            <a:off x="1317614" y="5951589"/>
            <a:ext cx="6608958" cy="9524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it-IT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it-IT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it-IT"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Giulio Mazzanti #690979 AU 25-26     g.mazzanti12@studenti.unipi.it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938326_TF78544816_Win32" id="{91A1CCE9-030E-40B5-831F-58BD67D54739}" vid="{036E6CC0-ADE4-4042-BBC8-25856C71C57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B7358-0BCB-4DEB-B717-C1D7CC555F05}">
  <ds:schemaRefs>
    <ds:schemaRef ds:uri="71af3243-3dd4-4a8d-8c0d-dd76da1f02a5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230e9df3-be65-4c73-a93b-d1236ebd677e"/>
    <ds:schemaRef ds:uri="16c05727-aa75-4e4a-9b5f-8a80a1165891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Presentazione moderna per conferenza</Template>
  <TotalTime>111</TotalTime>
  <Words>241</Words>
  <Application>Microsoft Office PowerPoint</Application>
  <PresentationFormat>Widescreen</PresentationFormat>
  <Paragraphs>55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Arial</vt:lpstr>
      <vt:lpstr>Calibri</vt:lpstr>
      <vt:lpstr>Tisa Offc Serif Pro</vt:lpstr>
      <vt:lpstr>Univers Light</vt:lpstr>
      <vt:lpstr>Personalizzata</vt:lpstr>
      <vt:lpstr>Medical Diagnosis AID</vt:lpstr>
      <vt:lpstr>Let’s Explore Together!</vt:lpstr>
      <vt:lpstr>Dataset: PIMA Indians Diabetes Database  Task: Binary Classification  Target: Outcome  768 rows, 8 input features, 1 target</vt:lpstr>
      <vt:lpstr>Exploratory Data Analysis and preprocessing</vt:lpstr>
      <vt:lpstr>Models and results</vt:lpstr>
      <vt:lpstr>Demo MVP</vt:lpstr>
      <vt:lpstr>Let’s  Take off Together!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Giulio Mazzanti</dc:creator>
  <cp:lastModifiedBy>Giulio Mazzanti</cp:lastModifiedBy>
  <cp:revision>4</cp:revision>
  <cp:lastPrinted>2026-06-11T18:10:38Z</cp:lastPrinted>
  <dcterms:created xsi:type="dcterms:W3CDTF">2026-06-11T16:04:41Z</dcterms:created>
  <dcterms:modified xsi:type="dcterms:W3CDTF">2026-06-11T18:10:55Z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